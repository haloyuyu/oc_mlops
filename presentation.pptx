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D6A748"/>
                </a:solidFill>
                <a:latin typeface="Courier New"/>
              </a:rPr>
              <a:t>PROJET 6  ·  INITIEZ-VOUS AU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000" b="1">
                <a:solidFill>
                  <a:srgbClr val="F3F2EE"/>
                </a:solidFill>
                <a:latin typeface="Georgia"/>
              </a:rPr>
              <a:t>Le seuil qui coûte le moins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7680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 b="0">
                <a:solidFill>
                  <a:srgbClr val="B3B9C4"/>
                </a:solidFill>
                <a:latin typeface="Georgia"/>
              </a:rPr>
              <a:t>Un modèle de scoring crédit pour « Prêt à dépenser », optimisé non pas sur l'AUC mais sur ce qu'une erreur coûte vraiment à l'entreprise.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029200"/>
            <a:ext cx="2926080" cy="18288"/>
          </a:xfrm>
          <a:prstGeom prst="rect">
            <a:avLst/>
          </a:prstGeom>
          <a:solidFill>
            <a:srgbClr val="D6A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3035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838B99"/>
                </a:solidFill>
                <a:latin typeface="Courier New"/>
              </a:rPr>
              <a:t>Données : Home Credit Default Risk      Stack : LightGBM · Optuna · MLflow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838B99"/>
                </a:solidFill>
                <a:latin typeface="Courier New"/>
              </a:rPr>
              <a:t>Amaury Gauthier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0637215" cy="20116"/>
          </a:xfrm>
          <a:prstGeom prst="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9A6F1E"/>
                </a:solidFill>
                <a:latin typeface="Courier New"/>
              </a:rP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63721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B2436"/>
                </a:solidFill>
                <a:latin typeface="Georgia"/>
              </a:rPr>
              <a:t>Toutes les erreurs ne se valent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6675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700" b="0">
                <a:solidFill>
                  <a:srgbClr val="4C5568"/>
                </a:solidFill>
                <a:latin typeface="Arial"/>
              </a:rPr>
              <a:t>Accorder un crédit à un client qui fera défaut coûte dix fois plus que refuser un bon client. Un modèle qui maximise l'AUC ignore cette asymétrie.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91840"/>
            <a:ext cx="6675120" cy="1845868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291840"/>
            <a:ext cx="41148" cy="1845868"/>
          </a:xfrm>
          <a:prstGeom prst="rect">
            <a:avLst/>
          </a:prstGeom>
          <a:solidFill>
            <a:srgbClr val="A33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511296"/>
            <a:ext cx="6089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FONCTION DE COÛT RETENUE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858768"/>
            <a:ext cx="6089904" cy="1077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4C5568"/>
                </a:solidFill>
                <a:latin typeface="Arial"/>
              </a:rPr>
              <a:t>coût  =  10 × FN  +  1 × FP
C'est cette quantité — et non l'AUC ni l'accuracy — qui pilote le choix du modèle, des hyperparamètres et du seuil.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2084831"/>
            <a:ext cx="3593592" cy="132588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322576"/>
            <a:ext cx="3593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4000" b="1">
                <a:solidFill>
                  <a:srgbClr val="1B2436"/>
                </a:solidFill>
                <a:latin typeface="Georgia"/>
              </a:rPr>
              <a:t>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953511"/>
            <a:ext cx="35935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CLIENTS EN DÉFAUT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3520440"/>
            <a:ext cx="3593592" cy="132588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758184"/>
            <a:ext cx="3593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4000" b="1">
                <a:solidFill>
                  <a:srgbClr val="A33A26"/>
                </a:solidFill>
                <a:latin typeface="Georgia"/>
              </a:rPr>
              <a:t>10 :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389120"/>
            <a:ext cx="35935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COÛT FN VS FP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40680"/>
            <a:ext cx="6675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7B8394"/>
                </a:solidFill>
                <a:latin typeface="Arial"/>
              </a:rPr>
              <a:t>Un modèle qui tranche à 0,5 ignore cette asymétrie. Et un modèle prédisant systématiquement « bon client » afficherait 92 % d'accuracy — tout en ruinant l'entreprise.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0637215" cy="20116"/>
          </a:xfrm>
          <a:prstGeom prst="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9A6F1E"/>
                </a:solidFill>
                <a:latin typeface="Courier New"/>
              </a:rPr>
              <a:t>LES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63721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B2436"/>
                </a:solidFill>
                <a:latin typeface="Georgia"/>
              </a:rPr>
              <a:t>Sept tables, un client par ligne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700" b="0">
                <a:solidFill>
                  <a:srgbClr val="4C5568"/>
                </a:solidFill>
                <a:latin typeface="Arial"/>
              </a:rPr>
              <a:t>Demande de crédit, bureau de crédit, crédits antérieurs, échéanciers, paiements, cartes. Toutes les tables auxiliaires contiennent plusieurs lignes par client.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80360"/>
            <a:ext cx="5120640" cy="214884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880360"/>
            <a:ext cx="41148" cy="2148840"/>
          </a:xfrm>
          <a:prstGeom prst="rect">
            <a:avLst/>
          </a:prstGeom>
          <a:solidFill>
            <a:srgbClr val="A33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099815"/>
            <a:ext cx="4535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LE PIÈGE ÉVITÉ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47288"/>
            <a:ext cx="4535424" cy="1380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4C5568"/>
                </a:solidFill>
                <a:latin typeface="Arial"/>
              </a:rPr>
              <a:t>Une jointure directe sur SK_ID_CURR ferait exploser le nombre de lignes : cible dupliquée et mêmes clients à cheval sur les plis de validation — une fuite massive.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166360" cy="214884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880360"/>
            <a:ext cx="41148" cy="2148840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099815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LA PARADE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447288"/>
            <a:ext cx="4581144" cy="1380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4C5568"/>
                </a:solidFill>
                <a:latin typeface="Arial"/>
              </a:rPr>
              <a:t>Agréger par client d'abord (min, max, moyenne, somme, variance), joindre ensuite en left. Grain « 1 ligne = 1 client » vérifié après coup : aucun doublon.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9A6F1E"/>
                </a:solidFill>
                <a:latin typeface="Courier New"/>
              </a:rPr>
              <a:t>Résultat : processed_data.csv — 356 251 lignes × 798 colonnes, dont 307 507 clients étiquetés.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0637215" cy="20116"/>
          </a:xfrm>
          <a:prstGeom prst="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9A6F1E"/>
                </a:solidFill>
                <a:latin typeface="Courier New"/>
              </a:rPr>
              <a:t>PRÉPARATION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63721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B2436"/>
                </a:solidFill>
                <a:latin typeface="Georgia"/>
              </a:rPr>
              <a:t>Des variables construites, pas collectées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03703"/>
            <a:ext cx="146304" cy="32004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075688"/>
            <a:ext cx="1029614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B2436"/>
                </a:solidFill>
                <a:latin typeface="Arial"/>
              </a:rPr>
              <a:t>Kernels adaptés — </a:t>
            </a:r>
            <a:r>
              <a:rPr sz="1500">
                <a:solidFill>
                  <a:srgbClr val="4C5568"/>
                </a:solidFill>
                <a:latin typeface="Arial"/>
              </a:rPr>
              <a:t>EDA de Will Koehrsen, feature engineering d'Aguiar, relus et modifiés.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80944"/>
            <a:ext cx="146304" cy="32004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852928"/>
            <a:ext cx="1029614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B2436"/>
                </a:solidFill>
                <a:latin typeface="Arial"/>
              </a:rPr>
              <a:t>Anomalie corrigée — </a:t>
            </a:r>
            <a:r>
              <a:rPr sz="1500">
                <a:solidFill>
                  <a:srgbClr val="4C5568"/>
                </a:solidFill>
                <a:latin typeface="Arial"/>
              </a:rPr>
              <a:t>DAYS_EMPLOYED = 365243 (~1 000 ans) devient une valeur manquante, avec un indicateur dédié.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58184"/>
            <a:ext cx="146304" cy="32004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630168"/>
            <a:ext cx="1029614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B2436"/>
                </a:solidFill>
                <a:latin typeface="Arial"/>
              </a:rPr>
              <a:t>Encodage adapté au modèle — </a:t>
            </a:r>
            <a:r>
              <a:rPr sz="1500">
                <a:solidFill>
                  <a:srgbClr val="4C5568"/>
                </a:solidFill>
                <a:latin typeface="Arial"/>
              </a:rPr>
              <a:t>binaire pour les variables à 2 modalités, one-hot pour les nominales — pas d'ordre imposé à tort.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535424"/>
            <a:ext cx="146304" cy="32004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4407407"/>
            <a:ext cx="1029614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B2436"/>
                </a:solidFill>
                <a:latin typeface="Arial"/>
              </a:rPr>
              <a:t>Manquants documentés — </a:t>
            </a:r>
            <a:r>
              <a:rPr sz="1500">
                <a:solidFill>
                  <a:srgbClr val="4C5568"/>
                </a:solidFill>
                <a:latin typeface="Arial"/>
              </a:rPr>
              <a:t>jusqu'à 70 % sur les colonnes de logement, mais l'absence est informative : LightGBM les gère nativement, les modèles linéaires reçoivent une imputation médiane apprise dans un Pipeline.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212080"/>
            <a:ext cx="10607040" cy="1346606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212080"/>
            <a:ext cx="41148" cy="1346606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5431536"/>
            <a:ext cx="10021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VARIABLES LES PLUS DÉTERMINANTES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779008"/>
            <a:ext cx="10021824" cy="578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4C5568"/>
                </a:solidFill>
                <a:latin typeface="Arial"/>
              </a:rPr>
              <a:t>PAYMENT_RATE (annuité / montant du crédit) devance les scores externes EXT_SOURCE, l'âge et l'ancienneté d'emploi.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0637215" cy="20116"/>
          </a:xfrm>
          <a:prstGeom prst="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9A6F1E"/>
                </a:solidFill>
                <a:latin typeface="Courier New"/>
              </a:rPr>
              <a:t>LES MODÈLES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63721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B2436"/>
                </a:solidFill>
                <a:latin typeface="Georgia"/>
              </a:rPr>
              <a:t>Quatre familles, un seul protocole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4C5568"/>
                </a:solidFill>
                <a:latin typeface="Arial"/>
              </a:rPr>
              <a:t>Même échantillon, mêmes plis stratifiés, mêmes métriques — et un seuil ré-optimisé pour chaque modèle, sans quoi les modèles pondérés seraient avantagés par le 0,5.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788920"/>
          <a:ext cx="10607040" cy="26883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82112"/>
                <a:gridCol w="3182112"/>
                <a:gridCol w="4242816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7B8394"/>
                          </a:solidFill>
                          <a:latin typeface="Courier New"/>
                        </a:rPr>
                        <a:t>MODÈLE</a:t>
                      </a:r>
                    </a:p>
                  </a:txBody>
                  <a:tcPr marL="109728" marR="73152" marT="36576" marB="36576" anchor="ctr">
                    <a:solidFill>
                      <a:srgbClr val="EAE8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7B8394"/>
                          </a:solidFill>
                          <a:latin typeface="Courier New"/>
                        </a:rPr>
                        <a:t>RÔLE</a:t>
                      </a:r>
                    </a:p>
                  </a:txBody>
                  <a:tcPr marL="109728" marR="73152" marT="36576" marB="36576" anchor="ctr">
                    <a:solidFill>
                      <a:srgbClr val="EAE8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7B8394"/>
                          </a:solidFill>
                          <a:latin typeface="Courier New"/>
                        </a:rPr>
                        <a:t>TRAITEMENT DU DÉSÉQUILIBRE</a:t>
                      </a:r>
                    </a:p>
                  </a:txBody>
                  <a:tcPr marL="109728" marR="73152" marT="36576" marB="36576" anchor="ctr">
                    <a:solidFill>
                      <a:srgbClr val="EAE8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B2436"/>
                          </a:solidFill>
                          <a:latin typeface="Arial"/>
                        </a:rPr>
                        <a:t>Régression logistique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Baseline interprétable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class_weight = balanced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B2436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Ensemble d'arbres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class_weight = balanced_subsample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B2436"/>
                          </a:solidFill>
                          <a:latin typeface="Arial"/>
                        </a:rPr>
                        <a:t>MLP (relu, 64-32)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Réseau de neurones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Compensé par le seuil métier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B2436"/>
                          </a:solidFill>
                          <a:latin typeface="Arial"/>
                        </a:rPr>
                        <a:t>LightGBM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Témoin sans pondération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Aucun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B2436"/>
                          </a:solidFill>
                          <a:latin typeface="Arial"/>
                        </a:rPr>
                        <a:t>LightGBM pondéré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Effet de la pondération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scale_pos_weight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B2436"/>
                          </a:solidFill>
                          <a:latin typeface="Arial"/>
                        </a:rPr>
                        <a:t>LightGBM + Optuna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Candidat retenu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Hyperparamètres optimisés sur le coût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0">
                <a:solidFill>
                  <a:srgbClr val="7B8394"/>
                </a:solidFill>
                <a:latin typeface="Arial"/>
              </a:rPr>
              <a:t>MLP : relu sur les couches cachées (pas de saturation du gradient) et sigmoïde en sortie — une probabilité bornée est une contrainte, pas une préférence : toute la décision repose sur un seuil.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0637215" cy="20116"/>
          </a:xfrm>
          <a:prstGeom prst="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9A6F1E"/>
                </a:solidFill>
                <a:latin typeface="Courier New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63721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B2436"/>
                </a:solidFill>
                <a:latin typeface="Georgia"/>
              </a:rPr>
              <a:t>Jamais un seul découpage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700" b="0">
                <a:solidFill>
                  <a:srgbClr val="4C5568"/>
                </a:solidFill>
                <a:latin typeface="Arial"/>
              </a:rPr>
              <a:t>Cinq plis stratifiés, prédictions out-of-fold sur l'ensemble du train. La performance ne dépend pas du hasard du découpage.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46120"/>
            <a:ext cx="3154680" cy="137160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83863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4000" b="1">
                <a:solidFill>
                  <a:srgbClr val="1B2436"/>
                </a:solidFill>
                <a:latin typeface="Georgia"/>
              </a:rPr>
              <a:t>0,7910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AUC OUT-OF-FOLD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246120"/>
            <a:ext cx="3154680" cy="137160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3483863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4000" b="1">
                <a:solidFill>
                  <a:srgbClr val="1B2436"/>
                </a:solidFill>
                <a:latin typeface="Georgia"/>
              </a:rPr>
              <a:t>0,0029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160520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ÉCART-TYPE INTER-PLIS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9204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7B8394"/>
                </a:solidFill>
                <a:latin typeface="Courier New"/>
              </a:rPr>
              <a:t>Plis individuels : 0,7858 · 0,7913 · 0,7934 · 0,7938 · 0,7907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084831"/>
            <a:ext cx="3593592" cy="274320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2084831"/>
            <a:ext cx="41148" cy="2743200"/>
          </a:xfrm>
          <a:prstGeom prst="rect">
            <a:avLst/>
          </a:prstGeom>
          <a:solidFill>
            <a:srgbClr val="2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2304287"/>
            <a:ext cx="3008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GARDE-FOU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2651760"/>
            <a:ext cx="3008376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4C5568"/>
                </a:solidFill>
                <a:latin typeface="Arial"/>
              </a:rPr>
              <a:t>Le premier du challenge Kaggle atteint 0,82. Un score supérieur signalerait du surapprentissage plutôt qu'un exploit : à 0,79, le modèle reste crédible.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0637215" cy="20116"/>
          </a:xfrm>
          <a:prstGeom prst="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9A6F1E"/>
                </a:solidFill>
                <a:latin typeface="Courier New"/>
              </a:rPr>
              <a:t>L'OPTIMISATION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63721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B2436"/>
                </a:solidFill>
                <a:latin typeface="Georgia"/>
              </a:rPr>
              <a:t>Optuna cherche le coût, pas l'AUC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700" b="0">
                <a:solidFill>
                  <a:srgbClr val="4C5568"/>
                </a:solidFill>
                <a:latin typeface="Arial"/>
              </a:rPr>
              <a:t>Vingt essais d'un échantillonneur TPE explorent dix hyperparamètres LightGBM. L'objectif minimisé n'est ni l'AUC ni la log-loss : c'est le coût métier out-of-fold, seuil déjà optimisé.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00400"/>
            <a:ext cx="5120640" cy="182880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200400"/>
            <a:ext cx="41148" cy="1828800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419856"/>
            <a:ext cx="4535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LA QUESTION POSÉE À CHAQUE ESSAI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767328"/>
            <a:ext cx="4535424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4C5568"/>
                </a:solidFill>
                <a:latin typeface="Arial"/>
              </a:rPr>
              <a:t>« Combien cette configuration coûterait-elle à l'entreprise ? » — et non « sépare-t-elle bien les classes ? 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00400"/>
            <a:ext cx="5166360" cy="182880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200400"/>
            <a:ext cx="41148" cy="1828800"/>
          </a:xfrm>
          <a:prstGeom prst="rect">
            <a:avLst/>
          </a:prstGeom>
          <a:solidFill>
            <a:srgbClr val="A33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419856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RÉSULTAT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767328"/>
            <a:ext cx="4581144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4C5568"/>
                </a:solidFill>
                <a:latin typeface="Arial"/>
              </a:rPr>
              <a:t>AUC 0,7915 (+0,0005 seulement) mais surtout un couple hyperparamètres + seuil choisi sur le bon critère.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9A6F1E"/>
                </a:solidFill>
                <a:latin typeface="Arial"/>
              </a:rPr>
              <a:t>L'AUC gagnée est marginale. Le gain réel vient de ce qui suit.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0637215" cy="20116"/>
          </a:xfrm>
          <a:prstGeom prst="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9A6F1E"/>
                </a:solidFill>
                <a:latin typeface="Courier New"/>
              </a:rPr>
              <a:t>LA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63721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B2436"/>
                </a:solidFill>
                <a:latin typeface="Georgia"/>
              </a:rPr>
              <a:t>Le seuil vaut plus que le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7B8394"/>
                </a:solidFill>
                <a:latin typeface="Courier New"/>
              </a:rPr>
              <a:t>COÛT MÉTIER TOTAL (10·FN + 1·FP) SUR 307 507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420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C5568"/>
                </a:solidFill>
                <a:latin typeface="Courier New"/>
              </a:rPr>
              <a:t>seuil 0,5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14600"/>
            <a:ext cx="7680960" cy="384048"/>
          </a:xfrm>
          <a:prstGeom prst="rect">
            <a:avLst/>
          </a:prstGeom>
          <a:solidFill>
            <a:srgbClr val="EA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4560" y="2514600"/>
            <a:ext cx="7548399" cy="384048"/>
          </a:xfrm>
          <a:prstGeom prst="rect">
            <a:avLst/>
          </a:prstGeom>
          <a:solidFill>
            <a:srgbClr val="7B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25786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B2436"/>
                </a:solidFill>
                <a:latin typeface="Courier New"/>
              </a:rPr>
              <a:t>235 858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278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A33A26"/>
                </a:solidFill>
                <a:latin typeface="Courier New"/>
              </a:rPr>
              <a:t>seuil 0,080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3200400"/>
            <a:ext cx="7680960" cy="384048"/>
          </a:xfrm>
          <a:prstGeom prst="rect">
            <a:avLst/>
          </a:prstGeom>
          <a:solidFill>
            <a:srgbClr val="EA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94560" y="3200400"/>
            <a:ext cx="4739216" cy="384048"/>
          </a:xfrm>
          <a:prstGeom prst="rect">
            <a:avLst/>
          </a:prstGeom>
          <a:solidFill>
            <a:srgbClr val="A33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32644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A33A26"/>
                </a:solidFill>
                <a:latin typeface="Courier New"/>
              </a:rPr>
              <a:t>148 082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33776" y="3703320"/>
            <a:ext cx="13716" cy="411480"/>
          </a:xfrm>
          <a:prstGeom prst="rect">
            <a:avLst/>
          </a:prstGeom>
          <a:solidFill>
            <a:srgbClr val="A33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0936" y="3913632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A33A26"/>
                </a:solidFill>
                <a:latin typeface="Courier New"/>
              </a:rPr>
              <a:t>87 776 unités de coût évitées, soit 37,2 %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4C5568"/>
                </a:solidFill>
                <a:latin typeface="Arial"/>
              </a:rPr>
              <a:t>Le même modèle, la même AUC : seul le seuil change. Avec 8 % de défauts et un faux négatif dix fois plus coûteux, il devient rationnel de refuser dès 8 % de probabilité de défaut. Le predict() de scikit-learn, lui, aurait tranché à 0,5 sans jamais poser la question.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0637215" cy="20116"/>
          </a:xfrm>
          <a:prstGeom prst="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9A6F1E"/>
                </a:solidFill>
                <a:latin typeface="Courier New"/>
              </a:rPr>
              <a:t>ROBUSTESSE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63721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B2436"/>
                </a:solidFill>
                <a:latin typeface="Georgia"/>
              </a:rPr>
              <a:t>Le seuil tient-il hors du laboratoire 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95144"/>
            <a:ext cx="146304" cy="32004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167128"/>
            <a:ext cx="1029614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B2436"/>
                </a:solidFill>
                <a:latin typeface="Arial"/>
              </a:rPr>
              <a:t>Hold-out isolé — </a:t>
            </a:r>
            <a:r>
              <a:rPr sz="1500">
                <a:solidFill>
                  <a:srgbClr val="4C5568"/>
                </a:solidFill>
                <a:latin typeface="Arial"/>
              </a:rPr>
              <a:t>20 % des clients mis de côté avant toute décision ; le seuil est choisi sur les 80 % restants puis appliqué tel quel, et l'on mesure l'écart avec le seuil « oracle » qu'on aurait pris en trichant.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346703"/>
            <a:ext cx="146304" cy="32004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3218688"/>
            <a:ext cx="1029614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B2436"/>
                </a:solidFill>
                <a:latin typeface="Arial"/>
              </a:rPr>
              <a:t>Bootstrap — </a:t>
            </a:r>
            <a:r>
              <a:rPr sz="1500">
                <a:solidFill>
                  <a:srgbClr val="4C5568"/>
                </a:solidFill>
                <a:latin typeface="Arial"/>
              </a:rPr>
              <a:t>200 rééchantillonnages donnent un intervalle de confiance à 90 % sur le seuil optimal : sa dispersion se lit directement.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398264"/>
            <a:ext cx="146304" cy="32004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4270247"/>
            <a:ext cx="1029614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B2436"/>
                </a:solidFill>
                <a:latin typeface="Arial"/>
              </a:rPr>
              <a:t>Sensibilité au ratio de coût — </a:t>
            </a:r>
            <a:r>
              <a:rPr sz="1500">
                <a:solidFill>
                  <a:srgbClr val="4C5568"/>
                </a:solidFill>
                <a:latin typeface="Arial"/>
              </a:rPr>
              <a:t>le seuil est recalculé pour des ratios FN/FP de 1 à 50, pour que le métier arbitre en connaissance de cause si son hypothèse de 10:1 évolue.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94960"/>
            <a:ext cx="10607040" cy="1096975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394960"/>
            <a:ext cx="41148" cy="1096975"/>
          </a:xfrm>
          <a:prstGeom prst="rect">
            <a:avLst/>
          </a:prstGeom>
          <a:solidFill>
            <a:srgbClr val="A33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5614416"/>
            <a:ext cx="10021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CE QUE CES CONTRÔLES PROTÈGENT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961888"/>
            <a:ext cx="10021824" cy="32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4C5568"/>
                </a:solidFill>
                <a:latin typeface="Arial"/>
              </a:rPr>
              <a:t>Un seuil qui ne tiendrait pas en production y coûterait ce qu'il fait mine d'économiser.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0637215" cy="20116"/>
          </a:xfrm>
          <a:prstGeom prst="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9A6F1E"/>
                </a:solidFill>
                <a:latin typeface="Courier New"/>
              </a:rPr>
              <a:t>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63721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B2436"/>
                </a:solidFill>
                <a:latin typeface="Georgia"/>
              </a:rPr>
              <a:t>Du notebook au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2508427" cy="251460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94560"/>
            <a:ext cx="2508427" cy="36576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0512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9A6F1E"/>
                </a:solidFill>
                <a:latin typeface="Courier New"/>
              </a:rPr>
              <a:t>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20512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B2436"/>
                </a:solidFill>
                <a:latin typeface="Arial"/>
              </a:rPr>
              <a:t>Chaque run est daté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84448"/>
            <a:ext cx="205122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4C5568"/>
                </a:solidFill>
                <a:latin typeface="Arial"/>
              </a:rPr>
              <a:t>Coût métier, AUC, seuil, hyperparamètres et courbes archivés run par run.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6835" y="2194560"/>
            <a:ext cx="2508427" cy="251460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6835" y="2194560"/>
            <a:ext cx="2508427" cy="36576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5435" y="2468880"/>
            <a:ext cx="20512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9A6F1E"/>
                </a:solidFill>
                <a:latin typeface="Courier New"/>
              </a:rPr>
              <a:t>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5435" y="2834640"/>
            <a:ext cx="20512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B2436"/>
                </a:solidFill>
                <a:latin typeface="Arial"/>
              </a:rPr>
              <a:t>Une version, un alias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5435" y="3584448"/>
            <a:ext cx="205122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4C5568"/>
                </a:solidFill>
                <a:latin typeface="Arial"/>
              </a:rPr>
              <a:t>Le champion est versionné sous credit_scoring_lgbm, pointé par @champion.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6431" y="2194560"/>
            <a:ext cx="2508427" cy="251460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6431" y="2194560"/>
            <a:ext cx="2508427" cy="36576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5031" y="2468880"/>
            <a:ext cx="20512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9A6F1E"/>
                </a:solidFill>
                <a:latin typeface="Courier New"/>
              </a:rPr>
              <a:t>PACKAGING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031" y="2834640"/>
            <a:ext cx="20512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B2436"/>
                </a:solidFill>
                <a:latin typeface="Arial"/>
              </a:rPr>
              <a:t>Le seuil voyage avec le modèle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031" y="3584448"/>
            <a:ext cx="205122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4C5568"/>
                </a:solidFill>
                <a:latin typeface="Arial"/>
              </a:rPr>
              <a:t>Un wrapper pyfunc renvoie la probabilité et la décision métier.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6027" y="2194560"/>
            <a:ext cx="2508427" cy="251460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6027" y="2194560"/>
            <a:ext cx="2508427" cy="36576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627" y="2468880"/>
            <a:ext cx="20512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9A6F1E"/>
                </a:solidFill>
                <a:latin typeface="Courier New"/>
              </a:rPr>
              <a:t>SERVING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627" y="2834640"/>
            <a:ext cx="20512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B2436"/>
                </a:solidFill>
                <a:latin typeface="Arial"/>
              </a:rPr>
              <a:t>Une API en une commande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627" y="3584448"/>
            <a:ext cx="205122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4C5568"/>
                </a:solidFill>
                <a:latin typeface="Arial"/>
              </a:rPr>
              <a:t>mlflow models serve expose le modèle ; un script rejoue une vraie requête REST.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983480"/>
            <a:ext cx="10607040" cy="1596237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983480"/>
            <a:ext cx="41148" cy="1596237"/>
          </a:xfrm>
          <a:prstGeom prst="rect">
            <a:avLst/>
          </a:prstGeom>
          <a:solidFill>
            <a:srgbClr val="A33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5202936"/>
            <a:ext cx="10021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LE DÉTAIL QUI AURAIT TOUT ANNULÉ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5550408"/>
            <a:ext cx="10021824" cy="828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4C5568"/>
                </a:solidFill>
                <a:latin typeface="Arial"/>
              </a:rPr>
              <a:t>Servi tel quel, le flavor LightGBM natif appelle predict() — qui tranche à 0,5. Tout le travail sur le coût métier serait resté dans le notebook. Le modèle enregistré embarque donc son seuil et répond : probabilité, décision, seuil appliqué.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0637215" cy="20116"/>
          </a:xfrm>
          <a:prstGeom prst="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9A6F1E"/>
                </a:solidFill>
                <a:latin typeface="Courier New"/>
              </a:rPr>
              <a:t>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63721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B2436"/>
                </a:solidFill>
                <a:latin typeface="Georgia"/>
              </a:rPr>
              <a:t>Résultats de référence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48840"/>
          <a:ext cx="10607040" cy="22128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42816"/>
                <a:gridCol w="2121408"/>
                <a:gridCol w="4242816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7B8394"/>
                          </a:solidFill>
                          <a:latin typeface="Courier New"/>
                        </a:rPr>
                        <a:t>INDICATEUR</a:t>
                      </a:r>
                    </a:p>
                  </a:txBody>
                  <a:tcPr marL="109728" marR="73152" marT="36576" marB="36576" anchor="ctr">
                    <a:solidFill>
                      <a:srgbClr val="EAE8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7B8394"/>
                          </a:solidFill>
                          <a:latin typeface="Courier New"/>
                        </a:rPr>
                        <a:t>VALEUR</a:t>
                      </a:r>
                    </a:p>
                  </a:txBody>
                  <a:tcPr marL="109728" marR="73152" marT="36576" marB="36576" anchor="ctr">
                    <a:solidFill>
                      <a:srgbClr val="EAE8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7B8394"/>
                          </a:solidFill>
                          <a:latin typeface="Courier New"/>
                        </a:rPr>
                        <a:t>LECTURE</a:t>
                      </a:r>
                    </a:p>
                  </a:txBody>
                  <a:tcPr marL="109728" marR="73152" marT="36576" marB="36576" anchor="ctr">
                    <a:solidFill>
                      <a:srgbClr val="EAE8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B2436"/>
                          </a:solidFill>
                          <a:latin typeface="Arial"/>
                        </a:rPr>
                        <a:t>AUC out-of-fold (5 plis)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Courier New"/>
                        </a:rPr>
                        <a:t>0,7910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Écart-type inter-plis 0,0029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B2436"/>
                          </a:solidFill>
                          <a:latin typeface="Arial"/>
                        </a:rPr>
                        <a:t>AUC après optimisation Optuna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Courier New"/>
                        </a:rPr>
                        <a:t>0,7915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Sous les 0,82 du vainqueur Kaggle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B2436"/>
                          </a:solidFill>
                          <a:latin typeface="Arial"/>
                        </a:rPr>
                        <a:t>Seuil de décision retenu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Courier New"/>
                        </a:rPr>
                        <a:t>0,080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Crédit refusé au-delà</a:t>
                      </a:r>
                    </a:p>
                  </a:txBody>
                  <a:tcPr marL="109728" marR="73152" marT="36576" marB="36576" anchor="ctr">
                    <a:solidFill>
                      <a:srgbClr val="FB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B2436"/>
                          </a:solidFill>
                          <a:latin typeface="Arial"/>
                        </a:rPr>
                        <a:t>Coût métier au seuil retenu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Courier New"/>
                        </a:rPr>
                        <a:t>148 082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4C5568"/>
                          </a:solidFill>
                          <a:latin typeface="Arial"/>
                        </a:rPr>
                        <a:t>Contre 235 858 au seuil 0,5</a:t>
                      </a:r>
                    </a:p>
                  </a:txBody>
                  <a:tcPr marL="109728" marR="73152" marT="36576" marB="36576" anchor="ctr"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4572000"/>
            <a:ext cx="10607040" cy="1649730"/>
          </a:xfrm>
          <a:prstGeom prst="rect">
            <a:avLst/>
          </a:prstGeom>
          <a:solidFill>
            <a:srgbClr val="FBFAF8"/>
          </a:solidFill>
          <a:ln w="9525">
            <a:solidFill>
              <a:srgbClr val="D8D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572000"/>
            <a:ext cx="41148" cy="1649730"/>
          </a:xfrm>
          <a:prstGeom prst="rect">
            <a:avLst/>
          </a:prstGeom>
          <a:solidFill>
            <a:srgbClr val="A33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4791456"/>
            <a:ext cx="10021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50" b="0">
                <a:solidFill>
                  <a:srgbClr val="7B8394"/>
                </a:solidFill>
                <a:latin typeface="Courier New"/>
              </a:rPr>
              <a:t>L'ENSEIGNEMENT DU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5138928"/>
            <a:ext cx="10021824" cy="8816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4C5568"/>
                </a:solidFill>
                <a:latin typeface="Arial"/>
              </a:rPr>
              <a:t>L'optimisation des hyperparamètres n'a gagné que 0,0005 d'AUC. Les 37 % de coût évités viennent du seuil, pas du modèle. Sur un problème déséquilibré à coûts asymétriques, la règle de décision pèse plus lourd que la finesse de l'algorithme.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10637215" cy="20116"/>
          </a:xfrm>
          <a:prstGeom prst="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9A6F1E"/>
                </a:solidFill>
                <a:latin typeface="Courier New"/>
              </a:rPr>
              <a:t>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63721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B2436"/>
                </a:solidFill>
                <a:latin typeface="Georgia"/>
              </a:rPr>
              <a:t>Limites assumées et prochaines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7B8394"/>
                </a:solidFill>
                <a:latin typeface="Courier New"/>
              </a:rPr>
              <a:t>LIMITES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15184"/>
            <a:ext cx="146304" cy="32004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487168"/>
            <a:ext cx="480974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B2436"/>
                </a:solidFill>
                <a:latin typeface="Arial"/>
              </a:rPr>
              <a:t>Ratio 10:1 — </a:t>
            </a:r>
            <a:r>
              <a:rPr sz="1500">
                <a:solidFill>
                  <a:srgbClr val="4C5568"/>
                </a:solidFill>
                <a:latin typeface="Arial"/>
              </a:rPr>
              <a:t>hypothèse de travail, pas une mesure comptable — d'où le tableau de sensibilité.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666744"/>
            <a:ext cx="146304" cy="32004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3538728"/>
            <a:ext cx="480974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B2436"/>
                </a:solidFill>
                <a:latin typeface="Arial"/>
              </a:rPr>
              <a:t>Comparaison sur sous-échantillon — </a:t>
            </a:r>
            <a:r>
              <a:rPr sz="1500">
                <a:solidFill>
                  <a:srgbClr val="4C5568"/>
                </a:solidFill>
                <a:latin typeface="Arial"/>
              </a:rPr>
              <a:t>le classement des familles est fiable, les valeurs absolues sont à relire à pleine échelle.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718304"/>
            <a:ext cx="146304" cy="32004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4590288"/>
            <a:ext cx="480974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B2436"/>
                </a:solidFill>
                <a:latin typeface="Arial"/>
              </a:rPr>
              <a:t>Explicabilité — </a:t>
            </a:r>
            <a:r>
              <a:rPr sz="1500">
                <a:solidFill>
                  <a:srgbClr val="4C5568"/>
                </a:solidFill>
                <a:latin typeface="Arial"/>
              </a:rPr>
              <a:t>le modèle s'explique globalement, pas encore client par client.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4884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9A6F1E"/>
                </a:solidFill>
                <a:latin typeface="Courier New"/>
              </a:rPr>
              <a:t>PARTIE 2 /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615184"/>
            <a:ext cx="146304" cy="32004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2487168"/>
            <a:ext cx="485546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B2436"/>
                </a:solidFill>
                <a:latin typeface="Arial"/>
              </a:rPr>
              <a:t>Feature importance locale — </a:t>
            </a:r>
            <a:r>
              <a:rPr sz="1500">
                <a:solidFill>
                  <a:srgbClr val="4C5568"/>
                </a:solidFill>
                <a:latin typeface="Arial"/>
              </a:rPr>
              <a:t>SHAP, pour justifier un refus auprès d'un chargé d'études.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666744"/>
            <a:ext cx="146304" cy="32004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3538728"/>
            <a:ext cx="485546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B2436"/>
                </a:solidFill>
                <a:latin typeface="Arial"/>
              </a:rPr>
              <a:t>API de scoring déployée — </a:t>
            </a:r>
            <a:r>
              <a:rPr sz="1500">
                <a:solidFill>
                  <a:srgbClr val="4C5568"/>
                </a:solidFill>
                <a:latin typeface="Arial"/>
              </a:rPr>
              <a:t>et interface de consultation.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718304"/>
            <a:ext cx="146304" cy="32004"/>
          </a:xfrm>
          <a:prstGeom prst="rect">
            <a:avLst/>
          </a:prstGeom>
          <a:solidFill>
            <a:srgbClr val="9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4590288"/>
            <a:ext cx="485546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B2436"/>
                </a:solidFill>
                <a:latin typeface="Arial"/>
              </a:rPr>
              <a:t>Détection de data drift — </a:t>
            </a:r>
            <a:r>
              <a:rPr sz="1500">
                <a:solidFill>
                  <a:srgbClr val="4C5568"/>
                </a:solidFill>
                <a:latin typeface="Arial"/>
              </a:rPr>
              <a:t>et déclenchement du réentraînement.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806440"/>
            <a:ext cx="10637215" cy="13716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7B8394"/>
                </a:solidFill>
                <a:latin typeface="Courier New"/>
              </a:rPr>
              <a:t>Notebooks : exploration.ipynb · modelisation.ipynb    |    Runs : MLflow « Classification 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